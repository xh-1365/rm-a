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409" r:id="rId3"/>
    <p:sldId id="378" r:id="rId4"/>
    <p:sldId id="410" r:id="rId5"/>
    <p:sldId id="412" r:id="rId6"/>
    <p:sldId id="411" r:id="rId7"/>
    <p:sldId id="413" r:id="rId8"/>
    <p:sldId id="414" r:id="rId9"/>
    <p:sldId id="415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5" r:id="rId18"/>
    <p:sldId id="424" r:id="rId19"/>
    <p:sldId id="426" r:id="rId20"/>
    <p:sldId id="427" r:id="rId21"/>
    <p:sldId id="429" r:id="rId22"/>
    <p:sldId id="428" r:id="rId23"/>
    <p:sldId id="430" r:id="rId24"/>
    <p:sldId id="431" r:id="rId25"/>
    <p:sldId id="435" r:id="rId26"/>
    <p:sldId id="433" r:id="rId27"/>
    <p:sldId id="436" r:id="rId28"/>
    <p:sldId id="260" r:id="rId29"/>
  </p:sldIdLst>
  <p:sldSz cx="12192000" cy="6858000"/>
  <p:notesSz cx="6858000" cy="9144000"/>
  <p:custDataLst>
    <p:tags r:id="rId32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44" autoAdjust="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2023-10-05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2023-10-05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889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9028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5863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4044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1709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3445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9726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9124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238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0192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5549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8015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5119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120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1633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5229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269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4430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383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5871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3525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13928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21264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77480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52769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91217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2023-10-05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6000" cap="none">
                <a:solidFill>
                  <a:schemeClr val="bg1"/>
                </a:solidFill>
              </a:rPr>
              <a:t>3.6 </a:t>
            </a:r>
            <a:r>
              <a:rPr lang="en-US" altLang="zh-CN" sz="6000" cap="none" dirty="0">
                <a:solidFill>
                  <a:schemeClr val="bg1"/>
                </a:solidFill>
              </a:rPr>
              <a:t>PID</a:t>
            </a:r>
            <a:r>
              <a:rPr lang="zh-CN" altLang="en-US" sz="6000" cap="none" dirty="0">
                <a:solidFill>
                  <a:schemeClr val="bg1"/>
                </a:solidFill>
              </a:rPr>
              <a:t>算法（意识流讲解）</a:t>
            </a:r>
            <a:endParaRPr lang="zh-CN" altLang="en-US" sz="6000" cap="none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3" y="1800000"/>
            <a:ext cx="11029616" cy="485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控制的基本知识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算法的意识流讲解，全程伴随“仿真”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常见的补充算法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积分相关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微分相关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输出限幅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其他算法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总结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268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控制的基本知识</a:t>
            </a:r>
            <a:endParaRPr lang="zh-CN" altLang="en-US" sz="4000" cap="none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7ABA58-D788-869E-FBB0-89C5B7A110C9}"/>
              </a:ext>
            </a:extLst>
          </p:cNvPr>
          <p:cNvSpPr txBox="1"/>
          <p:nvPr/>
        </p:nvSpPr>
        <p:spPr>
          <a:xfrm>
            <a:off x="581193" y="1800000"/>
            <a:ext cx="11029616" cy="2446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为什么要控制？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百度百科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控制是指为了确保组织内各项计划</a:t>
            </a:r>
            <a:r>
              <a:rPr lang="zh-CN" altLang="en-US" sz="24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按规定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去完成而进行的</a:t>
            </a:r>
            <a:r>
              <a:rPr lang="zh-CN" altLang="en-US" sz="24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监督和纠偏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的过程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第五次培训，实现了控制电机的电流从而实现对电机的控制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电控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，电路，控制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3A9BF3-DC73-CF8F-E497-35CBE6CEC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470" y="4048259"/>
            <a:ext cx="3393232" cy="253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</a:t>
            </a:r>
            <a:r>
              <a:rPr lang="zh-CN" alt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控制的基本知识</a:t>
            </a:r>
            <a:endParaRPr lang="zh-CN" altLang="en-US" sz="4000" cap="none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7ABA58-D788-869E-FBB0-89C5B7A110C9}"/>
              </a:ext>
            </a:extLst>
          </p:cNvPr>
          <p:cNvSpPr txBox="1"/>
          <p:nvPr/>
        </p:nvSpPr>
        <p:spPr>
          <a:xfrm>
            <a:off x="581193" y="1818661"/>
            <a:ext cx="3525286" cy="5099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控制的分类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开环控制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最朴素的控制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闭环控制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引入反馈机制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以沿着校园主路走到校门为例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闭眼走，根据走的时长判断走了多远：开环控制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睁眼走，边走边观测校门位置：闭环控制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是闭环控制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4D231F-1CD8-B180-297E-974FE443E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479" y="1950295"/>
            <a:ext cx="8085521" cy="49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en-US" altLang="zh-CN" sz="3600" dirty="0"/>
              <a:t>.1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</a:t>
            </a:r>
            <a:endParaRPr lang="zh-CN" altLang="en-US" sz="3600" cap="none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7ABA58-D788-869E-FBB0-89C5B7A110C9}"/>
              </a:ext>
            </a:extLst>
          </p:cNvPr>
          <p:cNvSpPr txBox="1"/>
          <p:nvPr/>
        </p:nvSpPr>
        <p:spPr>
          <a:xfrm>
            <a:off x="581192" y="1818661"/>
            <a:ext cx="11029615" cy="2054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为了便于讲解，在这里建个模，以举物体为例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控制器：你的大脑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执行机构：你的手臂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被控系统：手机，箱子，伞，想举啥举啥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传感器：你的眼睛（这里假设你是超人，可以精确知道物体的位置和速度）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E1AE4B0-ACB1-2435-8CA5-6855320AF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146" y="4403354"/>
            <a:ext cx="6867854" cy="245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82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7ABA58-D788-869E-FBB0-89C5B7A110C9}"/>
              </a:ext>
            </a:extLst>
          </p:cNvPr>
          <p:cNvSpPr txBox="1"/>
          <p:nvPr/>
        </p:nvSpPr>
        <p:spPr>
          <a:xfrm>
            <a:off x="581192" y="1818661"/>
            <a:ext cx="11029615" cy="2854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为了便于讲解，在这里建个模，以举物体为例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控制信息：你想让物体处于的状态，定在某个高度上，还是以一定速度运动，都是控制信息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控制量：你能控制你手臂的情况，比如让你的手臂以一定力度或速度运动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控制动作：施加给被举物体的动作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系统状态：被举物体的运动状态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反馈信息：被举物体的速度位置值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FD99E3-9B5F-D866-0CC9-BB1D11F5A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146" y="4403354"/>
            <a:ext cx="6867854" cy="2454646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2124DD99-0218-46DB-0DB8-7630E0E3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2.1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</a:t>
            </a:r>
            <a:endParaRPr lang="zh-CN" altLang="en-US" sz="3600" cap="none" dirty="0"/>
          </a:p>
        </p:txBody>
      </p:sp>
    </p:spTree>
    <p:extLst>
      <p:ext uri="{BB962C8B-B14F-4D97-AF65-F5344CB8AC3E}">
        <p14:creationId xmlns:p14="http://schemas.microsoft.com/office/powerpoint/2010/main" val="379381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FD99E3-9B5F-D866-0CC9-BB1D11F5A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146" y="4403354"/>
            <a:ext cx="6867854" cy="2454646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2.1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</a:t>
            </a:r>
            <a:endParaRPr lang="zh-CN" altLang="en-US" sz="3600" cap="none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5A8F54-2552-74BE-54F1-EB2A6610080F}"/>
              </a:ext>
            </a:extLst>
          </p:cNvPr>
          <p:cNvSpPr txBox="1"/>
          <p:nvPr/>
        </p:nvSpPr>
        <p:spPr>
          <a:xfrm>
            <a:off x="581192" y="1818661"/>
            <a:ext cx="11029615" cy="2578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更进一步，细化建模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执行机构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你是超人，可以精确控制你手臂对物体施加的力度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被控系统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受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10N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重力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受与速度正比的空气阻力，系数为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-1N/(m/s)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显然还受你手臂的力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49606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62619E0-A91D-0CD0-529F-EC11349C3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028" y="2845837"/>
            <a:ext cx="4258972" cy="3960845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2.1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CE88EE-8A97-CFC7-ED4E-10B3428CC664}"/>
                  </a:ext>
                </a:extLst>
              </p:cNvPr>
              <p:cNvSpPr txBox="1"/>
              <p:nvPr/>
            </p:nvSpPr>
            <p:spPr>
              <a:xfrm>
                <a:off x="581190" y="1550046"/>
                <a:ext cx="11029615" cy="509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更进一步，细化建模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执行机构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你是超人，可以精确控制你手臂对物体施加的力度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F</a:t>
                </a: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被控系统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质量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1kg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，初始位置为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，位置、速度、加速度向上是正方向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受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-10N</a:t>
                </a: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的重力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G</a:t>
                </a: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受与速度正比的反向空气阻力，系数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k=-1N/(m/s)</a:t>
                </a: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显然还受你手臂的力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F</a:t>
                </a: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设加速度是</a:t>
                </a:r>
                <a:r>
                  <a:rPr lang="en-US" altLang="zh-CN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a</a:t>
                </a: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因此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714500" lvl="3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𝑣</m:t>
                    </m:r>
                  </m:oMath>
                </a14:m>
                <a:endParaRPr lang="en-US" altLang="zh-CN" b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化简，代入得加速度</a:t>
                </a:r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714500" lvl="3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𝑎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𝐹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)/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𝑚</m:t>
                    </m:r>
                  </m:oMath>
                </a14:m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714500" lvl="3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−10</m:t>
                    </m:r>
                  </m:oMath>
                </a14:m>
                <a:endParaRPr lang="en-US" altLang="zh-CN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CE88EE-8A97-CFC7-ED4E-10B3428CC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0" y="1550046"/>
                <a:ext cx="11029615" cy="5099216"/>
              </a:xfrm>
              <a:prstGeom prst="rect">
                <a:avLst/>
              </a:prstGeom>
              <a:blipFill>
                <a:blip r:embed="rId4"/>
                <a:stretch>
                  <a:fillRect l="-331" b="-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33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62619E0-A91D-0CD0-529F-EC11349C3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028" y="2845837"/>
            <a:ext cx="4258972" cy="3960845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2.1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CE88EE-8A97-CFC7-ED4E-10B3428CC664}"/>
                  </a:ext>
                </a:extLst>
              </p:cNvPr>
              <p:cNvSpPr txBox="1"/>
              <p:nvPr/>
            </p:nvSpPr>
            <p:spPr>
              <a:xfrm>
                <a:off x="581192" y="1818661"/>
                <a:ext cx="11029615" cy="4455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𝑎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𝐹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𝑣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−10</m:t>
                    </m:r>
                  </m:oMath>
                </a14:m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物理宏观世界中是连续的，求速度和位置需要用到积分！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我们这里可以用极限逼近思想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假设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0.1s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内，我们的加速度、速度、位置都是（近似）固定的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每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0.1s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更新一次，因此第</a:t>
                </a:r>
                <a:r>
                  <a:rPr lang="en-US" altLang="zh-CN" sz="2000" dirty="0" err="1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i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次更新后的系统：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−10</m:t>
                    </m:r>
                  </m:oMath>
                </a14:m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+0.1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+0.1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如果给定系统初始的速度和位置值，控制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F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就能控制这个物块了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=0</m:t>
                    </m:r>
                  </m:oMath>
                </a14:m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0</m:t>
                    </m:r>
                  </m:oMath>
                </a14:m>
                <a:endParaRPr lang="zh-CN" altLang="en-US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CE88EE-8A97-CFC7-ED4E-10B3428CC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1818661"/>
                <a:ext cx="11029615" cy="4455194"/>
              </a:xfrm>
              <a:prstGeom prst="rect">
                <a:avLst/>
              </a:prstGeom>
              <a:blipFill>
                <a:blip r:embed="rId4"/>
                <a:stretch>
                  <a:fillRect l="-497" b="-1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39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A9DA4F52-988C-C2E4-821D-AF1C055E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922" y="3847839"/>
            <a:ext cx="4999153" cy="3010161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2.1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</a:t>
            </a:r>
            <a:endParaRPr lang="zh-CN" altLang="en-US" sz="3600" cap="none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CE88EE-8A97-CFC7-ED4E-10B3428CC664}"/>
              </a:ext>
            </a:extLst>
          </p:cNvPr>
          <p:cNvSpPr txBox="1"/>
          <p:nvPr/>
        </p:nvSpPr>
        <p:spPr>
          <a:xfrm>
            <a:off x="581194" y="1629411"/>
            <a:ext cx="8142928" cy="2218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控制什么？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控制信息就是目标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物块受力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开环控制，无需反馈，超人可以完美完成任务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物块的位置、速度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根据反馈的系统状态信息与目标，调节你要给物块施加的力的大小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1AABD13-C49B-DB79-1186-F76B136E5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76449"/>
            <a:ext cx="7222922" cy="258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2.1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CE88EE-8A97-CFC7-ED4E-10B3428CC664}"/>
                  </a:ext>
                </a:extLst>
              </p:cNvPr>
              <p:cNvSpPr txBox="1"/>
              <p:nvPr/>
            </p:nvSpPr>
            <p:spPr>
              <a:xfrm>
                <a:off x="581194" y="1629411"/>
                <a:ext cx="11029616" cy="2322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Excel</a:t>
                </a:r>
                <a:r>
                  <a:rPr lang="zh-CN" altLang="en-US" sz="28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</a:t>
                </a:r>
                <a:r>
                  <a:rPr lang="en-US" altLang="zh-CN" sz="28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sheet1</a:t>
                </a:r>
                <a:r>
                  <a:rPr lang="zh-CN" altLang="en-US" sz="28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举例</a:t>
                </a:r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𝐹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=10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𝐹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=0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𝐹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=15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CE88EE-8A97-CFC7-ED4E-10B3428CC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4" y="1629411"/>
                <a:ext cx="11029616" cy="2322367"/>
              </a:xfrm>
              <a:prstGeom prst="rect">
                <a:avLst/>
              </a:prstGeom>
              <a:blipFill>
                <a:blip r:embed="rId3"/>
                <a:stretch>
                  <a:fillRect l="-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39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2.2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——P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CE88EE-8A97-CFC7-ED4E-10B3428CC664}"/>
                  </a:ext>
                </a:extLst>
              </p:cNvPr>
              <p:cNvSpPr txBox="1"/>
              <p:nvPr/>
            </p:nvSpPr>
            <p:spPr>
              <a:xfrm>
                <a:off x="581192" y="1818661"/>
                <a:ext cx="11029615" cy="3481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意识流第一步：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Proportion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，比例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感性认知：离目标越远，我给的输出越大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𝑡𝑎𝑟𝑔𝑒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𝑛𝑜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b="0" i="1" dirty="0">
                  <a:latin typeface="Cambria Math" panose="02040503050406030204" pitchFamily="18" charset="0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i</m:t>
                        </m:r>
                      </m:sub>
                    </m:sSub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是啥？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比例系数，是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PID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控制器的参数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大小需要手动调节，根据现实情况来调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ACE88EE-8A97-CFC7-ED4E-10B3428CC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1818661"/>
                <a:ext cx="11029615" cy="3481466"/>
              </a:xfrm>
              <a:prstGeom prst="rect">
                <a:avLst/>
              </a:prstGeom>
              <a:blipFill>
                <a:blip r:embed="rId3"/>
                <a:stretch>
                  <a:fillRect l="-718" b="-3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83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2.2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——P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/>
              <p:nvPr/>
            </p:nvSpPr>
            <p:spPr>
              <a:xfrm>
                <a:off x="581194" y="1629411"/>
                <a:ext cx="11029616" cy="4237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8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Excel</a:t>
                </a:r>
                <a:r>
                  <a:rPr lang="zh-CN" altLang="en-US" sz="28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</a:t>
                </a:r>
                <a:r>
                  <a:rPr lang="en-US" altLang="zh-CN" sz="28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sheet2</a:t>
                </a:r>
                <a:r>
                  <a:rPr lang="zh-CN" altLang="en-US" sz="28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举例</a:t>
                </a:r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=0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=10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=11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=15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19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=20</m:t>
                    </m:r>
                  </m:oMath>
                </a14:m>
                <a:endParaRPr lang="en-US" altLang="zh-CN" sz="28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4" y="1629411"/>
                <a:ext cx="11029616" cy="4237570"/>
              </a:xfrm>
              <a:prstGeom prst="rect">
                <a:avLst/>
              </a:prstGeom>
              <a:blipFill>
                <a:blip r:embed="rId3"/>
                <a:stretch>
                  <a:fillRect l="-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26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2.2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——P</a:t>
            </a:r>
            <a:endParaRPr lang="zh-CN" altLang="en-US" sz="3600" cap="none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2B47EC-3D17-274F-92D3-A83B8645640C}"/>
              </a:ext>
            </a:extLst>
          </p:cNvPr>
          <p:cNvSpPr txBox="1"/>
          <p:nvPr/>
        </p:nvSpPr>
        <p:spPr>
          <a:xfrm>
            <a:off x="581194" y="1629411"/>
            <a:ext cx="11029616" cy="5079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直觉上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好像可以控制，但不能达到目标，稳态误差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太小，控制不动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再大，稳定值比目标小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再大，直接跑飞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用脑子分析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如果达到了目标，那么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error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</a:t>
            </a:r>
            <a:r>
              <a:rPr lang="en-US" altLang="zh-CN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根据公式，根本没力了，又得掉下来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怎么办？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605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——I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A3ECA3E-2ADC-BF1F-3731-212093439CB5}"/>
                  </a:ext>
                </a:extLst>
              </p:cNvPr>
              <p:cNvSpPr txBox="1"/>
              <p:nvPr/>
            </p:nvSpPr>
            <p:spPr>
              <a:xfrm>
                <a:off x="581192" y="1818661"/>
                <a:ext cx="11029615" cy="3500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意识流第二步：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I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Integrate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，积分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/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累加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感性认知：达不到目标？我让这个值随时间加上去！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𝑎𝑙𝑙</m:t>
                            </m:r>
                          </m:sub>
                        </m:sSub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b="0" i="1" dirty="0">
                  <a:latin typeface="Cambria Math" panose="02040503050406030204" pitchFamily="18" charset="0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all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是啥？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积分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/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累加系数，是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PID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控制器的参数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大小需要手动调节，根据现实情况来调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A3ECA3E-2ADC-BF1F-3731-212093439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1818661"/>
                <a:ext cx="11029615" cy="3500958"/>
              </a:xfrm>
              <a:prstGeom prst="rect">
                <a:avLst/>
              </a:prstGeom>
              <a:blipFill>
                <a:blip r:embed="rId3"/>
                <a:stretch>
                  <a:fillRect l="-718" b="-2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33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——I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/>
              <p:nvPr/>
            </p:nvSpPr>
            <p:spPr>
              <a:xfrm>
                <a:off x="581194" y="1629411"/>
                <a:ext cx="11029616" cy="4958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Excel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sheet3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举例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=0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=0.03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=3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=1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3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=3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=4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=12.5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=3.6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建议自己再多试几组，可能有更好的参数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4" y="1629411"/>
                <a:ext cx="11029616" cy="4958986"/>
              </a:xfrm>
              <a:prstGeom prst="rect">
                <a:avLst/>
              </a:prstGeom>
              <a:blipFill>
                <a:blip r:embed="rId3"/>
                <a:stretch>
                  <a:fillRect l="-718" b="-1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48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——I</a:t>
            </a:r>
            <a:endParaRPr lang="zh-CN" altLang="en-US" sz="3600" cap="none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2B47EC-3D17-274F-92D3-A83B8645640C}"/>
              </a:ext>
            </a:extLst>
          </p:cNvPr>
          <p:cNvSpPr txBox="1"/>
          <p:nvPr/>
        </p:nvSpPr>
        <p:spPr>
          <a:xfrm>
            <a:off x="581194" y="1629411"/>
            <a:ext cx="11029616" cy="3254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直觉上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还不错，但这是仿真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参数分别为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(10, 3)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(10,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4)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哪个更好，虽然都没有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(12.5,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3.6)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好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一个控制起来稳定但到达目标值有些慢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一个到达目标值很快但不稳定，超调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用脑子分析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积分项的存在是为了消除稳态误差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通过在时间上累加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error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的同时，到达目标之后也需要时间来把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error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引起的超调抵消掉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A6B8B2-1832-5262-6C5D-C654CA63C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653" y="4879610"/>
            <a:ext cx="3130251" cy="19238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D665B39-5A4D-455E-DAFC-C3C230BE2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947" y="4879610"/>
            <a:ext cx="3025400" cy="192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2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2.4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——D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A3ECA3E-2ADC-BF1F-3731-212093439CB5}"/>
                  </a:ext>
                </a:extLst>
              </p:cNvPr>
              <p:cNvSpPr txBox="1"/>
              <p:nvPr/>
            </p:nvSpPr>
            <p:spPr>
              <a:xfrm>
                <a:off x="581192" y="1818661"/>
                <a:ext cx="11029615" cy="4461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意识流第三步：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D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Differential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，微分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/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差分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感性认知：我要是能有一定的预判能力，知道快到目标了，提前减速，挺不错的。怎么知道快到目标了？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error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一次比一次小就快到了，这时候把值减下来就好了</a:t>
                </a:r>
                <a:endParaRPr lang="en-US" altLang="zh-CN" sz="2400" b="0" i="1" dirty="0">
                  <a:latin typeface="Cambria Math" panose="02040503050406030204" pitchFamily="18" charset="0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𝑑𝑒𝑙𝑡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−1</m:t>
                        </m:r>
                      </m:sub>
                    </m:sSub>
                  </m:oMath>
                </a14:m>
                <a:endParaRPr lang="en-US" altLang="zh-CN" sz="2400" b="0" i="1" dirty="0">
                  <a:latin typeface="Cambria Math" panose="02040503050406030204" pitchFamily="18" charset="0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𝑑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∗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𝑑𝑒𝑙𝑡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是啥？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微分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/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差分系数，是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PID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控制器的参数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大小需要手动调节，根据现实情况来调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A3ECA3E-2ADC-BF1F-3731-212093439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1818661"/>
                <a:ext cx="11029615" cy="4461221"/>
              </a:xfrm>
              <a:prstGeom prst="rect">
                <a:avLst/>
              </a:prstGeom>
              <a:blipFill>
                <a:blip r:embed="rId3"/>
                <a:stretch>
                  <a:fillRect l="-718" b="-2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74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2.4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——D</a:t>
            </a:r>
            <a:endParaRPr lang="zh-CN" altLang="en-US" sz="3600" cap="none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2B47EC-3D17-274F-92D3-A83B8645640C}"/>
              </a:ext>
            </a:extLst>
          </p:cNvPr>
          <p:cNvSpPr txBox="1"/>
          <p:nvPr/>
        </p:nvSpPr>
        <p:spPr>
          <a:xfrm>
            <a:off x="581194" y="1629411"/>
            <a:ext cx="11029616" cy="1006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Excel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sheet4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举例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这里留给同学们自己尝试这三个参数，从而先对调参有一定的概念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570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2.4 PID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算法的意识流讲解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——D</a:t>
            </a:r>
            <a:endParaRPr lang="zh-CN" altLang="en-US" sz="3600" cap="none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C5F71C-2866-9FEE-E598-F9C6E5718EBC}"/>
              </a:ext>
            </a:extLst>
          </p:cNvPr>
          <p:cNvSpPr txBox="1"/>
          <p:nvPr/>
        </p:nvSpPr>
        <p:spPr>
          <a:xfrm>
            <a:off x="581194" y="1629411"/>
            <a:ext cx="11029616" cy="2927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恭喜你已经掌握了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我并不是控制专业的，控制专业某些课程或许可以对上述系统通过精确计算，直接计算好最优的参数，上面那一套过程也只是为了举例子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现实中，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只需我们设计好对应的代码框架，然后指定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三个参数即可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还有很多附加算法，可以让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更加灵活，适用于更多场景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761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en-US" altLang="zh-CN" sz="3600" dirty="0"/>
              <a:t>.1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常见的补充算法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积分相关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/>
              <p:nvPr/>
            </p:nvSpPr>
            <p:spPr>
              <a:xfrm>
                <a:off x="581194" y="1629411"/>
                <a:ext cx="11029616" cy="3947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积分限幅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需要一个幅度限制参量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𝑐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绝对值超出某给定值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时，</a:t>
                </a:r>
                <a:r>
                  <a:rPr lang="en-US" altLang="zh-CN" sz="2400" dirty="0">
                    <a:ea typeface="Microsoft YaHei U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zh-CN" altLang="en-US" sz="240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符号不变</m:t>
                    </m:r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，绝对值恒等于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𝑐</m:t>
                    </m:r>
                  </m:oMath>
                </a14:m>
                <a:endParaRPr lang="en-US" altLang="zh-CN" sz="2400" b="0" i="1" dirty="0">
                  <a:latin typeface="Cambria Math" panose="02040503050406030204" pitchFamily="18" charset="0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一定程度上防止积分过大系统失控或输出过高损坏设备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Excel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sheet5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举例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速度目标值给大，设置为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30</a:t>
                </a: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PID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参数为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7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2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0.5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4" y="1629411"/>
                <a:ext cx="11029616" cy="3947684"/>
              </a:xfrm>
              <a:prstGeom prst="rect">
                <a:avLst/>
              </a:prstGeom>
              <a:blipFill>
                <a:blip r:embed="rId3"/>
                <a:stretch>
                  <a:fillRect l="-718" b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39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en-US" altLang="zh-CN" sz="3600" dirty="0"/>
              <a:t>.1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常见的补充算法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积分相关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/>
              <p:nvPr/>
            </p:nvSpPr>
            <p:spPr>
              <a:xfrm>
                <a:off x="581194" y="1629411"/>
                <a:ext cx="11029616" cy="3934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积分分离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需要一个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分离阈值参数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𝑑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大于某给定值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时，</a:t>
                </a:r>
                <a:r>
                  <a:rPr lang="en-US" altLang="zh-CN" sz="2400" dirty="0">
                    <a:ea typeface="Microsoft YaHei U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保持为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不参与计算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防止积分过大导致严重超调问题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Excel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sheet6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举例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速度目标值给大，设置为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30</a:t>
                </a: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PID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参数为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7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2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0.5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4" y="1629411"/>
                <a:ext cx="11029616" cy="3934219"/>
              </a:xfrm>
              <a:prstGeom prst="rect">
                <a:avLst/>
              </a:prstGeom>
              <a:blipFill>
                <a:blip r:embed="rId3"/>
                <a:stretch>
                  <a:fillRect l="-718" b="-2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98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7C42ECA-8C91-F633-817F-189CACD71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358" y="4338259"/>
            <a:ext cx="4109545" cy="2488523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en-US" altLang="zh-CN" sz="3600" dirty="0"/>
              <a:t>.1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常见的补充算法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积分相关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/>
              <p:nvPr/>
            </p:nvSpPr>
            <p:spPr>
              <a:xfrm>
                <a:off x="581194" y="1629411"/>
                <a:ext cx="11029616" cy="4894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变速积分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需要两个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区间参数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𝐵</m:t>
                    </m:r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，以及一个把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𝐴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映射到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[0, 1]</m:t>
                    </m:r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的单调减函数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𝑎𝑙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Microsoft YaHei UI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需要额外乘一个系数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𝑘</m:t>
                    </m:r>
                  </m:oMath>
                </a14:m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绝对值大于某给定值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𝐵</m:t>
                    </m:r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=0</m:t>
                    </m:r>
                  </m:oMath>
                </a14:m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绝对值小于某给定值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𝐴</m:t>
                    </m:r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𝑘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=1</m:t>
                    </m:r>
                  </m:oMath>
                </a14:m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绝对值在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𝐴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以某种函数形式从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1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减小到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，一般情况下线性函数即可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防止积分过大导致严重超调问题</a:t>
                </a: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请同学们自行实现，该方法与上一方法作用类似</a:t>
                </a: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Excel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sheet7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举例</a:t>
                </a: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速度目标值给大，设置为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30</a:t>
                </a: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PID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参数为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7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2</a:t>
                </a:r>
                <a:r>
                  <a:rPr lang="zh-CN" altLang="en-US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0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0.5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4" y="1629411"/>
                <a:ext cx="11029616" cy="4894097"/>
              </a:xfrm>
              <a:prstGeom prst="rect">
                <a:avLst/>
              </a:prstGeom>
              <a:blipFill>
                <a:blip r:embed="rId4"/>
                <a:stretch>
                  <a:fillRect l="-497" b="-1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34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en-US" altLang="zh-CN" sz="3600" dirty="0"/>
              <a:t>.2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常见的补充算法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微分相关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/>
              <p:nvPr/>
            </p:nvSpPr>
            <p:spPr>
              <a:xfrm>
                <a:off x="581194" y="1629411"/>
                <a:ext cx="11029616" cy="484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微分先行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把原本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𝑒𝑟𝑟𝑜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的差值变成当前值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𝑛𝑜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的反向差值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𝑑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𝑛𝑜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𝑛𝑜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加快系统响应速度，避免过度提前预判导致减速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适合于给定指令频繁升降的场合，可以避免指令的改变导致超调过大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请同学们自行实现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Excel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sheet8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举例</a:t>
                </a: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速度目标值给大，设置为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30</a:t>
                </a:r>
              </a:p>
              <a:p>
                <a:pPr marL="1257300" lvl="2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PID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参数为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7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2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0.5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4" y="1629411"/>
                <a:ext cx="11029616" cy="4847609"/>
              </a:xfrm>
              <a:prstGeom prst="rect">
                <a:avLst/>
              </a:prstGeom>
              <a:blipFill>
                <a:blip r:embed="rId3"/>
                <a:stretch>
                  <a:fillRect l="-718" b="-1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98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en-US" altLang="zh-CN" sz="3600" dirty="0"/>
              <a:t>.3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常见的补充算法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/>
              <a:t>输出限幅</a:t>
            </a:r>
            <a:endParaRPr lang="zh-CN" altLang="en-US" sz="3600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/>
              <p:nvPr/>
            </p:nvSpPr>
            <p:spPr>
              <a:xfrm>
                <a:off x="581194" y="1629411"/>
                <a:ext cx="11029616" cy="3887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输出限幅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需要一个幅度限制参量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𝑐</m:t>
                    </m:r>
                  </m:oMath>
                </a14:m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400" b="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输出值</m:t>
                    </m:r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绝对值超出某给定值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𝑐</m:t>
                    </m:r>
                  </m:oMath>
                </a14:m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时，绝对值恒等于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𝑐</m:t>
                    </m:r>
                  </m:oMath>
                </a14:m>
                <a:endParaRPr lang="en-US" altLang="zh-CN" sz="2400" b="0" i="1" dirty="0">
                  <a:latin typeface="Cambria Math" panose="02040503050406030204" pitchFamily="18" charset="0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一定程度上防止输出过高损坏设备，也算尊重现实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Excel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的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sheet9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举例</a:t>
                </a:r>
                <a:endParaRPr lang="en-US" altLang="zh-CN" sz="240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速度目标值给大，设置为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30</a:t>
                </a:r>
              </a:p>
              <a:p>
                <a:pPr marL="800100" lvl="1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PID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参数为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7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2</a:t>
                </a:r>
                <a:r>
                  <a:rPr lang="zh-CN" altLang="en-US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，</a:t>
                </a:r>
                <a:r>
                  <a:rPr lang="en-US" altLang="zh-CN" sz="2400" dirty="0">
                    <a:latin typeface="Microsoft YaHei UI" panose="020B0503020204020204" pitchFamily="34" charset="-122"/>
                    <a:ea typeface="Microsoft YaHei UI" panose="020B0503020204020204" pitchFamily="34" charset="-122"/>
                  </a:rPr>
                  <a:t>0.5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12B47EC-3D17-274F-92D3-A83B86456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4" y="1629411"/>
                <a:ext cx="11029616" cy="3887346"/>
              </a:xfrm>
              <a:prstGeom prst="rect">
                <a:avLst/>
              </a:prstGeom>
              <a:blipFill>
                <a:blip r:embed="rId3"/>
                <a:stretch>
                  <a:fillRect l="-718" b="-26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148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D0299CA-7689-855C-56AD-C9DF42EA2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411" y="2895384"/>
            <a:ext cx="6214395" cy="3741900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en-US" altLang="zh-CN" sz="3600" dirty="0"/>
              <a:t>.4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常见的补充算法</a:t>
            </a:r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sz="3600" dirty="0"/>
              <a:t>其他算法</a:t>
            </a:r>
            <a:endParaRPr lang="zh-CN" altLang="en-US" sz="3600" cap="none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2B47EC-3D17-274F-92D3-A83B8645640C}"/>
              </a:ext>
            </a:extLst>
          </p:cNvPr>
          <p:cNvSpPr txBox="1"/>
          <p:nvPr/>
        </p:nvSpPr>
        <p:spPr>
          <a:xfrm>
            <a:off x="434049" y="1550046"/>
            <a:ext cx="11029616" cy="3407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其他常见算法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多环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位置作为目标，输出速度，该速度作为内环的目标，输出力量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前馈算法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这次先不讲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下次课程结合电机来讲效果更好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043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F89DE12A-98CC-7C0A-BB07-2119F669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总结</a:t>
            </a:r>
            <a:endParaRPr lang="zh-CN" altLang="en-US" sz="3600" cap="none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2B47EC-3D17-274F-92D3-A83B8645640C}"/>
              </a:ext>
            </a:extLst>
          </p:cNvPr>
          <p:cNvSpPr txBox="1"/>
          <p:nvPr/>
        </p:nvSpPr>
        <p:spPr>
          <a:xfrm>
            <a:off x="434049" y="1550046"/>
            <a:ext cx="11029616" cy="3887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控制，开环控制，闭环控制。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是闭环控制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连续物理世界离散化建模思想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都是啥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常见的补充算法，积分分离，积分限幅，输出限幅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下次培训，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RM</a:t>
            </a: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电机！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多环</a:t>
            </a:r>
            <a:r>
              <a:rPr lang="en-US" altLang="zh-CN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前馈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342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1838</Words>
  <Application>Microsoft Office PowerPoint</Application>
  <PresentationFormat>宽屏</PresentationFormat>
  <Paragraphs>259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Microsoft YaHei UI</vt:lpstr>
      <vt:lpstr>Arial</vt:lpstr>
      <vt:lpstr>Cambria Math</vt:lpstr>
      <vt:lpstr>Gill Sans MT</vt:lpstr>
      <vt:lpstr>Wingdings 2</vt:lpstr>
      <vt:lpstr>红利</vt:lpstr>
      <vt:lpstr>3.6 PID算法（意识流讲解）</vt:lpstr>
      <vt:lpstr>目录</vt:lpstr>
      <vt:lpstr>1 控制的基本知识</vt:lpstr>
      <vt:lpstr>1 控制的基本知识</vt:lpstr>
      <vt:lpstr>2.1 PID算法的意识流讲解——建模</vt:lpstr>
      <vt:lpstr>2.1 PID算法的意识流讲解——建模</vt:lpstr>
      <vt:lpstr>2.1 PID算法的意识流讲解——建模</vt:lpstr>
      <vt:lpstr>2.1 PID算法的意识流讲解——建模</vt:lpstr>
      <vt:lpstr>2.1 PID算法的意识流讲解——建模</vt:lpstr>
      <vt:lpstr>2.1 PID算法的意识流讲解——建模</vt:lpstr>
      <vt:lpstr>2.1 PID算法的意识流讲解——建模</vt:lpstr>
      <vt:lpstr>2.2 PID算法的意识流讲解——P</vt:lpstr>
      <vt:lpstr>2.2 PID算法的意识流讲解——P</vt:lpstr>
      <vt:lpstr>2.2 PID算法的意识流讲解——P</vt:lpstr>
      <vt:lpstr>2.3 PID算法的意识流讲解——I</vt:lpstr>
      <vt:lpstr>2.3 PID算法的意识流讲解——I</vt:lpstr>
      <vt:lpstr>2.3 PID算法的意识流讲解——I</vt:lpstr>
      <vt:lpstr>2.4 PID算法的意识流讲解——D</vt:lpstr>
      <vt:lpstr>2.4 PID算法的意识流讲解——D</vt:lpstr>
      <vt:lpstr>2.4 PID算法的意识流讲解——D</vt:lpstr>
      <vt:lpstr>3.1 常见的补充算法——积分相关</vt:lpstr>
      <vt:lpstr>3.1 常见的补充算法——积分相关</vt:lpstr>
      <vt:lpstr>3.1 常见的补充算法——积分相关</vt:lpstr>
      <vt:lpstr>3.2 常见的补充算法——微分相关</vt:lpstr>
      <vt:lpstr>3.3 常见的补充算法——输出限幅</vt:lpstr>
      <vt:lpstr>3.4 常见的补充算法——其他算法</vt:lpstr>
      <vt:lpstr>4 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2019-12-13T06:13:00Z</dcterms:created>
  <dcterms:modified xsi:type="dcterms:W3CDTF">2023-10-05T14:02:12Z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5F80E70E50E141FFB62F51F4FF0185D8</vt:lpwstr>
  </property>
  <property fmtid="{D5CDD505-2E9C-101B-9397-08002B2CF9AE}" pid="4" name="KSOProductBuildVer">
    <vt:lpwstr>2052-11.1.0.12980</vt:lpwstr>
  </property>
</Properties>
</file>